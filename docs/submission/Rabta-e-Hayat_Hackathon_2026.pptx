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2b713eb5824e7f" /><Relationship Type="http://schemas.openxmlformats.org/officeDocument/2006/relationships/extended-properties" Target="/docProps/app.xml" Id="Rd7c0adcd4a584866" /><Relationship Type="http://schemas.openxmlformats.org/officeDocument/2006/relationships/officeDocument" Target="/ppt/presentation.xml" Id="Rac6d128f1044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9d3ab0ce4d4e0d"/>
  </p:sldMasterIdLst>
  <p:notesMasterIdLst>
    <p:notesMasterId xmlns:r="http://schemas.openxmlformats.org/officeDocument/2006/relationships" r:id="Rc0d6b08136a04af2"/>
  </p:notesMasterIdLst>
  <p:sldIdLst>
    <p:sldId xmlns:r="http://schemas.openxmlformats.org/officeDocument/2006/relationships" id="256" r:id="R39fd8cc27cdf46aa"/>
    <p:sldId xmlns:r="http://schemas.openxmlformats.org/officeDocument/2006/relationships" id="257" r:id="R097e4946b61b4802"/>
    <p:sldId xmlns:r="http://schemas.openxmlformats.org/officeDocument/2006/relationships" id="258" r:id="R561ab6100ac4471a"/>
    <p:sldId xmlns:r="http://schemas.openxmlformats.org/officeDocument/2006/relationships" id="259" r:id="R525a8093007d445a"/>
    <p:sldId xmlns:r="http://schemas.openxmlformats.org/officeDocument/2006/relationships" id="260" r:id="Re1650f12f98b472e"/>
    <p:sldId xmlns:r="http://schemas.openxmlformats.org/officeDocument/2006/relationships" id="261" r:id="Rd4d4f732302e47cc"/>
    <p:sldId xmlns:r="http://schemas.openxmlformats.org/officeDocument/2006/relationships" id="262" r:id="R3400b17d4a5c4785"/>
    <p:sldId xmlns:r="http://schemas.openxmlformats.org/officeDocument/2006/relationships" id="263" r:id="R02d8eecdc0104b22"/>
    <p:sldId xmlns:r="http://schemas.openxmlformats.org/officeDocument/2006/relationships" id="264" r:id="Re3b3a886caab4198"/>
    <p:sldId xmlns:r="http://schemas.openxmlformats.org/officeDocument/2006/relationships" id="265" r:id="Re00e723a1d0943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d7f6ab9aee44de" /><Relationship Type="http://schemas.openxmlformats.org/officeDocument/2006/relationships/slideMaster" Target="/ppt/slideMasters/slideMaster1.xml" Id="Ra69d3ab0ce4d4e0d" /><Relationship Type="http://schemas.openxmlformats.org/officeDocument/2006/relationships/notesMaster" Target="/ppt/notesMasters/notesMaster1.xml" Id="Rc0d6b08136a04af2" /><Relationship Type="http://schemas.openxmlformats.org/officeDocument/2006/relationships/presProps" Target="/ppt/presProps.xml" Id="Radf2e12f2ac4472e" /><Relationship Type="http://schemas.openxmlformats.org/officeDocument/2006/relationships/tableStyles" Target="/ppt/tableStyles.xml" Id="Rc59e6eb6192e4072" /><Relationship Type="http://schemas.openxmlformats.org/officeDocument/2006/relationships/slide" Target="/ppt/slides/slide1.xml" Id="R39fd8cc27cdf46aa" /><Relationship Type="http://schemas.openxmlformats.org/officeDocument/2006/relationships/slide" Target="/ppt/slides/slide2.xml" Id="R097e4946b61b4802" /><Relationship Type="http://schemas.openxmlformats.org/officeDocument/2006/relationships/slide" Target="/ppt/slides/slide3.xml" Id="R561ab6100ac4471a" /><Relationship Type="http://schemas.openxmlformats.org/officeDocument/2006/relationships/slide" Target="/ppt/slides/slide4.xml" Id="R525a8093007d445a" /><Relationship Type="http://schemas.openxmlformats.org/officeDocument/2006/relationships/slide" Target="/ppt/slides/slide5.xml" Id="Re1650f12f98b472e" /><Relationship Type="http://schemas.openxmlformats.org/officeDocument/2006/relationships/slide" Target="/ppt/slides/slide6.xml" Id="Rd4d4f732302e47cc" /><Relationship Type="http://schemas.openxmlformats.org/officeDocument/2006/relationships/slide" Target="/ppt/slides/slide7.xml" Id="R3400b17d4a5c4785" /><Relationship Type="http://schemas.openxmlformats.org/officeDocument/2006/relationships/slide" Target="/ppt/slides/slide8.xml" Id="R02d8eecdc0104b22" /><Relationship Type="http://schemas.openxmlformats.org/officeDocument/2006/relationships/slide" Target="/ppt/slides/slide9.xml" Id="Re3b3a886caab4198" /><Relationship Type="http://schemas.openxmlformats.org/officeDocument/2006/relationships/slide" Target="/ppt/slides/slide10.xml" Id="Re00e723a1d09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21140070e4d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228a87a4e41b7" /><Relationship Type="http://schemas.openxmlformats.org/officeDocument/2006/relationships/notesMaster" Target="/ppt/notesMasters/notesMaster1.xml" Id="R1d64839929b0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15a65b41e4a18" /><Relationship Type="http://schemas.openxmlformats.org/officeDocument/2006/relationships/notesMaster" Target="/ppt/notesMasters/notesMaster1.xml" Id="Rb9f6cd57381d49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ecc88261d4574" /><Relationship Type="http://schemas.openxmlformats.org/officeDocument/2006/relationships/notesMaster" Target="/ppt/notesMasters/notesMaster1.xml" Id="R085227aa00d1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5aafe019524b09" /><Relationship Type="http://schemas.openxmlformats.org/officeDocument/2006/relationships/notesMaster" Target="/ppt/notesMasters/notesMaster1.xml" Id="Rf06ca4df02d4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5572ec0ca8447d" /><Relationship Type="http://schemas.openxmlformats.org/officeDocument/2006/relationships/notesMaster" Target="/ppt/notesMasters/notesMaster1.xml" Id="R0e31fcbf26144f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705e8e7074ce3" /><Relationship Type="http://schemas.openxmlformats.org/officeDocument/2006/relationships/notesMaster" Target="/ppt/notesMasters/notesMaster1.xml" Id="R5329eb99bdcd41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f9cb171c3e4776" /><Relationship Type="http://schemas.openxmlformats.org/officeDocument/2006/relationships/notesMaster" Target="/ppt/notesMasters/notesMaster1.xml" Id="R2a1569f809c6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761b82cea4d24" /><Relationship Type="http://schemas.openxmlformats.org/officeDocument/2006/relationships/notesMaster" Target="/ppt/notesMasters/notesMaster1.xml" Id="Rb61681126e2241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bb0c175dad44b9" /><Relationship Type="http://schemas.openxmlformats.org/officeDocument/2006/relationships/notesMaster" Target="/ppt/notesMasters/notesMaster1.xml" Id="Rb1161ab3868448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4e409e08f54693" /><Relationship Type="http://schemas.openxmlformats.org/officeDocument/2006/relationships/notesMaster" Target="/ppt/notesMasters/notesMaster1.xml" Id="Rbff0ed4f7c8b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this is a decision-and-execution network, not a generic inventory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release and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local evidence carefully: this is one Lahore tertiary hospital, not a national prevalence estimate. Then frame the system problem as a coordination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https://www.pjms.org.pk/index.php/pjms/article/view/13958</a:t>
            </a:r>
          </a:p>
          <a:p xmlns:a="http://schemas.openxmlformats.org/drawingml/2006/main">
            <a:r>
              <a:t>- https://pubmed.ncbi.nlm.nih.gov/33484539/</a:t>
            </a:r>
          </a:p>
          <a:p xmlns:a="http://schemas.openxmlformats.org/drawingml/2006/main">
            <a:r>
              <a:t>- https://www.emro.who.int/emhj-volume-24-2018/volume-24-issue-8/availability-and-safety-of-blood-transfusion-during-humanitarian-emergencies.html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key innovation is continuity: forecast and optimization connect directly to an accountable physical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README and domain workflow implementation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credibility before showing AI. The intelligence layer is built on donor, laboratory, inventory and clinical workflow state rather than isolated mock charts.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live application screenshot captured 3 September 2026</a:t>
            </a:r>
          </a:p>
          <a:p xmlns:a="http://schemas.openxmlformats.org/drawingml/2006/main">
            <a:r>
              <a:t>- Local repository domain models and workflows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forecast band and evidence gate. The system avoids false precision and keeps baseline fallbacks for weak series.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live application screenshot captured 3 September 2026</a:t>
            </a:r>
          </a:p>
          <a:p xmlns:a="http://schemas.openxmlformats.org/drawingml/2006/main">
            <a:r>
              <a:t>- Local forecasting engine and release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redesigned page removes ambiguity. A coordinator can see the process before taking an action, and approval remains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live application screenshot captured 3 September 2026</a:t>
            </a:r>
          </a:p>
          <a:p xmlns:a="http://schemas.openxmlformats.org/drawingml/2006/main">
            <a:r>
              <a:t>- https://www.pjms.org.pk/index.php/pjms/article/view/13958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distinction matters: optimization is not autonomy. Show the decision record and custody chain as the bridge between analytics and real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live application screenshot captured 3 September 2026</a:t>
            </a:r>
          </a:p>
          <a:p xmlns:a="http://schemas.openxmlformats.org/drawingml/2006/main">
            <a:r>
              <a:t>- Local OR-Tools optimizer and transfer state machine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and honest: the integration and governance path are implemented, while the current demo uses deterministic fallback because no external key is configured.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https://docs.modelstudio.console.alibabacloud.com/en/model-studio/what-is-model-studio</a:t>
            </a:r>
          </a:p>
          <a:p xmlns:a="http://schemas.openxmlformats.org/drawingml/2006/main">
            <a:r>
              <a:t>- https://www.alibabacloud.com/help/en/model-studio/qwen-api-via-openai-responses</a:t>
            </a:r>
          </a:p>
          <a:p xmlns:a="http://schemas.openxmlformats.org/drawingml/2006/main">
            <a:r>
              <a:t>- Local governed AI gateway, policies and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works for institutions at different digital maturity levels. Every source passes through the same validation, provenance and accountability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live application screenshot captured 3 September 2026</a:t>
            </a:r>
          </a:p>
          <a:p xmlns:a="http://schemas.openxmlformats.org/drawingml/2006/main">
            <a:r>
              <a:t>- Local interoperability adapters and operating model documentation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verification and the outcome. Do not overclaim production readiness; this is a complete synthetic demonstration MVP and a credible foundation for clinical validation and pilots.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automated test suite and release smoke report</a:t>
            </a:r>
          </a:p>
          <a:p xmlns:a="http://schemas.openxmlformats.org/drawingml/2006/main">
            <a:r>
              <a:t>- Local deterministic synthetic release database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3c7bf0915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f39133a864da3" /><Relationship Type="http://schemas.openxmlformats.org/officeDocument/2006/relationships/slideLayout" Target="/ppt/slideLayouts/slideLayout1.xml" Id="R1dd4997e5da9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d4997e5da9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7a219931d489f" /><Relationship Type="http://schemas.openxmlformats.org/officeDocument/2006/relationships/notesSlide" Target="/ppt/notesSlides/notesSlide1.xml" Id="R0341a177440a42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454f549ae4e09" /><Relationship Type="http://schemas.openxmlformats.org/officeDocument/2006/relationships/notesSlide" Target="/ppt/notesSlides/notesSlide2.xml" Id="Rf60393e2e6da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3faa2082d4ba3" /><Relationship Type="http://schemas.openxmlformats.org/officeDocument/2006/relationships/notesSlide" Target="/ppt/notesSlides/notesSlide3.xml" Id="R9560a78a6cc148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46babf472441c" /><Relationship Type="http://schemas.openxmlformats.org/officeDocument/2006/relationships/image" Target="/ppt/media/image.jpeg" Id="R19d00092331e4ee8" /><Relationship Type="http://schemas.openxmlformats.org/officeDocument/2006/relationships/notesSlide" Target="/ppt/notesSlides/notesSlide4.xml" Id="R4b68770d039a43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3e0a84124956" /><Relationship Type="http://schemas.openxmlformats.org/officeDocument/2006/relationships/image" Target="/ppt/media/image2.jpeg" Id="R878ca1d3e28945ea" /><Relationship Type="http://schemas.openxmlformats.org/officeDocument/2006/relationships/notesSlide" Target="/ppt/notesSlides/notesSlide5.xml" Id="Rdfb2fb5cf770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da8bcab44afc" /><Relationship Type="http://schemas.openxmlformats.org/officeDocument/2006/relationships/image" Target="/ppt/media/image3.jpeg" Id="R4a49ea9005df4c63" /><Relationship Type="http://schemas.openxmlformats.org/officeDocument/2006/relationships/notesSlide" Target="/ppt/notesSlides/notesSlide6.xml" Id="R8a16b86d76c144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93924f1b44447" /><Relationship Type="http://schemas.openxmlformats.org/officeDocument/2006/relationships/image" Target="/ppt/media/image4.jpeg" Id="R07b8a87309aa44e2" /><Relationship Type="http://schemas.openxmlformats.org/officeDocument/2006/relationships/notesSlide" Target="/ppt/notesSlides/notesSlide7.xml" Id="R4551118c0f8e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4599121d543a7" /><Relationship Type="http://schemas.openxmlformats.org/officeDocument/2006/relationships/notesSlide" Target="/ppt/notesSlides/notesSlide8.xml" Id="R253a7d6b70c840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623b2481d46de" /><Relationship Type="http://schemas.openxmlformats.org/officeDocument/2006/relationships/image" Target="/ppt/media/image5.jpeg" Id="R692b445d30074709" /><Relationship Type="http://schemas.openxmlformats.org/officeDocument/2006/relationships/notesSlide" Target="/ppt/notesSlides/notesSlide9.xml" Id="Ra50c858e924843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966ca63b04165" /><Relationship Type="http://schemas.openxmlformats.org/officeDocument/2006/relationships/notesSlide" Target="/ppt/notesSlides/notesSlide10.xml" Id="R02be0dc57d4141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843285-02FC-4175-8754-63FF13C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116BF-8A81-409E-B1C7-11FE63A7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ALIBABA CLOUD AI HACKATHON PAKISTAN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3C7AF-8829-4219-A23E-811F683C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Rabta-e-Hayat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5757F-FBAA-43E0-9E88-FA8E9EDE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647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Blood should expire nowhere while compatible demand goes unmet.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BD661-D9D7-4835-9924-E44F0E8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A governed blood-supply operating network for Pakistan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11C71-0264-4E63-A7E2-256C286E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29225"/>
            <a:ext cx="12192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A1314-E383-41F2-A78C-00E3F4C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EC00C-5F21-4E3B-962A-3A132A2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29225"/>
            <a:ext cx="12192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9302-B61E-4735-96F6-DE1D79B0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863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RESCUE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681CE-7FDF-45A7-B3AC-8DA7E9C8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229225"/>
            <a:ext cx="13620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118E9-23D3-4822-BD82-59ABCFA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86375"/>
            <a:ext cx="1171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F3489-FB59-4413-AE09-7790007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2922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8773A-711B-4FC5-BBAD-C8E2760C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863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9DB09-B401-4D52-899F-37D447CA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721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FAHEEL ANJUM  ·  TEAM RABTA-E-HAYAT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A72AA-FDBD-4032-A3DD-9D7C6C29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895350"/>
            <a:ext cx="3648075" cy="4810125"/>
          </a:xfrm>
          <a:prstGeom xmlns:a="http://schemas.openxmlformats.org/drawingml/2006/main" prst="roundRect">
            <a:avLst>
              <a:gd name="adj" fmla="val 41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115CA-8D7F-4381-A8FD-3448091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477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decision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768C2-8ADE-4147-856A-AFF7CAA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2D90A-FB2B-4E41-80F5-2E894CE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C2AA9-DBA2-4F6E-B134-90D90B2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See demand before it becomes a shortage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1B14C-470F-42A1-B2B1-EE7C6D1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81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173D8-63F0-47AB-BD6F-F59CC913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A1081-3B39-43E1-95E5-A9C8245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Find compatible stock before it expires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3880E-1CB1-47DA-8B81-B09007E1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48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3FB3B-3F8C-409C-A62D-85C6EA7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0C2C6-26D5-4638-948C-093DBD82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 a feasible movement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87D71-E390-4B70-8056-634483D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14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615C1-8B2B-411F-B43C-A5266BF5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75A2E-ACDE-43B4-BB11-7BC2C3C2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Require accountable human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11FFE-8A68-429F-B80C-B8AF3D8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81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A9DDE-9EAD-4841-881D-18B13B16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609249-2A3C-4A2E-B20C-255AC50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Track every named unit to receipt</a:t>
            </a:r>
          </a:p>
        </p:txBody>
      </p:sp>
    </p:spTree>
    <p:extLst>
      <p:ext uri="{BB962C8B-B14F-4D97-AF65-F5344CB8AC3E}">
        <p14:creationId xmlns:p14="http://schemas.microsoft.com/office/powerpoint/2010/main" val="769898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39A7F-D0F6-4246-90FB-B7B1706A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05C52-B8C9-4A8D-B912-2F8BE135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0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Blood is perishable. Operations are fragmented. Demand is uncertain.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B8217-EF25-4CFF-BFAC-6330865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E22AF-7CC5-49E0-95FD-906FBEF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810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1F173-162A-4F68-8C47-B4126D2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96%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C398-A2C9-486B-90E4-D5DD65E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 measured blood-product wastage in one Lahore tertiary hospital was attributed to expiry.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4CE90-D682-435D-9563-F27217E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13.5% overall wastage across 9,406 donations in the same 2022–2023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9433-ED0A-4EFC-A9DD-5DC4AC1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SHORTAGE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12857-E95C-49B8-8E93-1C61138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facility may need compatible blood 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9D469-F70F-4E7B-BB87-49D500AE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63D24-6F7D-4DA5-926B-8893B52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A40BF-8122-4141-A87A-B4F7E2C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28975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Another may be holding usable stock with little shelf life.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161BB-C66D-45C9-8820-191330F9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EBEFC-E425-4D6D-8D0A-9474D00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2B24A-B6E3-42F9-8690-0C558CD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Consent, compatibility, reserve, travel and custody make transfer hard.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0A758-820A-4C83-AF3D-5FF19CA9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6429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63458-172A-4278-8123-CF1EC96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6124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Counting units is not enough; the system must close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B0491-1D98-481C-B1D7-D2181B1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036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3C46F-0B9D-47A6-BC69-C13202C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7EAA-0A29-4919-8F49-E9CE3F3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governed loop—from donor registration to network receipt.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225DA-4AE6-45D5-9794-54DC3A3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994DB-AA03-4968-A9CC-F8CD6F30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679FC-59C1-4293-891A-BB5F799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AE6B5-9E17-4DD7-9E0D-BC33DCD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DONOR +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8A538-37AE-437E-A2D1-3B59A71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221FD-88D9-4653-AFFF-956B31C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DB946-7369-43E7-A59B-B42D023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D0D0C-A9EB-43B7-A104-3EDEE1CF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 +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42C19-6030-404D-98E8-9C6B02D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6AE36-6D6E-4C43-81FD-FCBA432A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59F6F-C02C-4E6D-9A27-FA73DFA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CE980-57B0-4A30-82CB-69B39B9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CBA7F-0B25-4230-8443-C0E27A31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D1406-4D51-432E-98B9-E10C07B2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E0B57-BADA-44FD-A280-DADF6F01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598E9-4C39-4E69-825D-6DF4039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 +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46BC7-2CF9-4E57-A22E-9436D7C7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56DB9-3670-49A0-9168-9BD5586E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76DCA-1D45-41EF-89F1-AC6F8E6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905AB-1266-43FC-9814-793B503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+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75253-79F5-4275-971F-41747BC3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14575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8D843-883E-4289-8CBF-2356B6D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43100"/>
            <a:ext cx="16097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89D89-BE80-4C65-83F5-C6FFBD46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47E04-CC8E-4A8E-B056-D1D9C2E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4098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DISPATCH +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RECEIVE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62A3C-531F-474D-9EE1-8000933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D4930-DA7A-42C4-A0FD-1A90E2C4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E0D10-92B6-4741-8ECA-1E050651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P10 / P50 / P90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4B9FE5-6A40-4F58-8DC3-D8E02BD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Uncertainty stays visible.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48B0C-CA8B-46B0-A6C6-5C346E7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CONSTRAINTS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C114B-901A-416B-A49E-B7E212C8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CP-SAT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729AD-186D-4A5A-9880-C937532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62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Only feasible routes survive.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36F919-61CB-4855-A89D-D80F81F7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05FBB-0B75-44BD-9BA7-8FF666E7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07CE8-EB2B-432F-9E50-D31C3DB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No autonomous blood movement.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22E84D-D79D-4C01-8518-D3088FDB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ACCOUNTABILITY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33C7F-DFA2-45DF-BC6F-6C1B5A0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Named-unit custody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FA47E3-924A-42CD-8993-B11959C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62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Every hand-off is traceable.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4BF76-B489-488D-8282-8CB2394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2566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71EC6-B148-43D6-B608-8B28024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OPERATIONAL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9F4AE-A4DD-4120-9EC2-83A9215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complete blood-bank workflow is already underneath the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119EC-1E5A-4D0F-830A-DA7D1504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382E7-B9E3-425B-99D4-EEEC8A01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28750"/>
            <a:ext cx="67056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00092331e4ee8"/>
          <a:srcRect xmlns:a="http://schemas.openxmlformats.org/drawingml/2006/main" l="0" t="51" r="0" b="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3475" y="1495425"/>
            <a:ext cx="6572250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40002-3AFD-43AD-81E2-168CD8DB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VEIN TO VEIN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11B67-D9BC-4B70-8260-F503B02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recommendation starts from governed operational 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C09F9-ED9F-4C86-B3FD-8151BFAE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2ABF5-F79C-4BD7-B7B9-0DFDB5E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289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Eligibility + deferral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A7DD-CD66-44C1-855B-F6172FE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74698-F19F-47DB-ABDF-4B5C1090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Collection +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958F2-55C0-4CFF-A685-CDE62962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2038D-F941-434D-8F53-9700D702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TTI test + independent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91AEE-A6C3-4F12-87FB-149105A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BD1CC-E227-4045-A695-4253049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 + crossmatch + issue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5991D-F381-4F8A-BC71-C5EDF7F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5F3D0-8AB6-40DD-8A9F-8449043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Transfusion + return + discard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6247D-60DF-413F-A654-B91559F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3435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Live product view · synthetic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15052-A79C-4524-B0E6-FFB74C6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853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38FAF-A6D1-4DFB-ACC7-0449FFB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DEMAND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8172F-F7E9-4D4F-835B-C5C849B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5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 ranges expose uncertainty—then prove whether the model helps.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8CEFC-BE1C-4980-823A-AD1F697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7EDC-F4B1-4DFF-96A4-A102A59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33525"/>
            <a:ext cx="7219950" cy="4124325"/>
          </a:xfrm>
          <a:prstGeom xmlns:a="http://schemas.openxmlformats.org/drawingml/2006/main" prst="roundRect">
            <a:avLst>
              <a:gd name="adj" fmla="val 277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ca1d3e28945ea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00200"/>
            <a:ext cx="7086600" cy="3990975"/>
          </a:xfrm>
          <a:prstGeom xmlns:a="http://schemas.openxmlformats.org/drawingml/2006/main" prst="roundRect">
            <a:avLst>
              <a:gd name="adj" fmla="val 19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26D65-7002-448F-B084-F7BD853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2F6CC-2001-4500-9862-48DAC1BA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288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low-demand 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6FAE6-A3E1-420F-A7C7-E0AEEA3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FDBA6-4485-4410-9687-9C265297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479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917E8-2546-4E16-B459-EEE0A2CF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241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expected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A1760-CD14-4FA9-AC8B-D5627CD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051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D4D0E-419D-43FE-AE9B-D65F2B5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BD63D-BC87-4C15-979E-D4D6DEB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high-demand guardrail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22870-25A4-4B49-AD8B-0695448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238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6C7DE-F0C5-4C54-AF72-99AEE91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9097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DE2BA-529D-43EC-8A45-124AA784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624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LightGBM is promoted only when backtesting beats the baseline; sparse series fall back safely.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B96F0-E2F2-4BA9-B3D8-52A14D8D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9058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C7919-1B77-4D8C-8477-7D853EB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EXPIRY RESCUE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39AF7-7011-4184-A452-5242E41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complex risk becomes a clear four-step operational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DD8BE-CB44-4439-AB1D-8A6028D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B6BAD-AF75-411A-8104-0DCC3DF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9225"/>
            <a:ext cx="72390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9ea9005df4c63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1485900"/>
            <a:ext cx="710565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0C812-E696-4314-990A-10283E5B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B9EB9-0B40-4F6E-BD79-A7779793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31712-021E-4C83-8314-6919C07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335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Find the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0B772-A493-46D8-993A-1E6FFFC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Which units expire soon?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1CD32-AD73-4BC0-AFE2-544F54D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56929-AE07-4102-B920-EBF53D2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320B0-AEC0-4A37-9533-4337C70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24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F6FA1-85C9-477C-A106-7C9FA68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89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Where can they help safely?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8591B-BFB2-4A63-9C98-B71B1241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2576-634A-4DDD-83AA-024D64F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9DDAA-ECD1-4062-9005-E80989A9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147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F8CC2-36C4-42C9-B044-41E9D0E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9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What constraints shaped this?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901CD-A345-49C9-8A55-F1D8F181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4002A-1AF6-491C-9E82-0A92EBB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0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EFFE5-6D36-4B7B-96E5-1737AEF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053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17DA1-1335-4D38-AB7A-A56D0D1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10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Approve, modify or reject.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9B6A0-9AE2-4D5E-A484-058FBBC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111567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3CD85-7413-4EF8-9291-965B938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76900"/>
            <a:ext cx="10829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Risk → feasible destination → human gate → named-unit 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A064F-782B-4C5B-A48A-12A97323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262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F4FC3-BDF9-45F6-AEA8-2DFA11E2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FROM RECOMMENDATION TO CUSTODY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E73C6-5B69-4477-B9B5-C9D0C33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3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optimizer proposes. People authorize. The ledger proves what moved.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36D6-0064-4A47-8CCF-2FA68747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5C895-3D39-4935-BFE4-0B73031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95425"/>
            <a:ext cx="6848475" cy="3914775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8a87309aa44e2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62100"/>
            <a:ext cx="6715125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B67FA-5156-4F48-9749-33A8793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37433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CF8A-203E-429E-96AF-AE7CE7A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43075"/>
            <a:ext cx="3324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HARD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DCAB8-89A1-460B-BBFC-784632FC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324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ABO/Rh · reserve floor · shelf life · route time · cold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2A7C1-8BD4-4E24-A73B-A1A4B83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37433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DB01E-3BAC-4295-954A-7DD13FEF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324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HUMAN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4035B-D646-45B1-9673-5ECFFF2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324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Authorized coordinator approves, modifies or rejects with reason.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ABB18-5884-44CC-84BB-5207452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37433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51E06-8CA0-4295-A427-A7CD6C08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324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PHYSICAL TRUTH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04664-006A-46C6-B368-4767F16E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324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DIN manifest · reservation · seal · courier · receipt · exceptions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56719-71E1-4E23-8C1D-72C1020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62600"/>
            <a:ext cx="3743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1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No recommendation moves blood automatically.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4484E-AE65-4EAB-96B6-405FA638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0487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8AAC9-53FF-4AC9-B197-C75BA937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RESPONSIBLE AI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8F054-0D30-4030-B00C-7A6BCFB3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right intelligence for each job—and put Qwen behind guardrails.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85FF2-DDD1-432D-B250-471AA70F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BFCFC-8E70-49A3-95A8-25A351B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63341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F6799-57D1-41F8-8983-4438D0FF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F6512-21DA-4C0A-B77D-62AD6F1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6859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LightGBM + TSB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9D425-7330-4BFA-AEAF-9F87212A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24025"/>
            <a:ext cx="2505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Demand ranges and sparse-series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887CD-44B1-427F-B471-584CEA2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63341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4BC3C-EEB3-40F8-94B1-CAA0989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OPTIMIZE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727CA-FC25-4BE4-926C-23A31B2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8860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OR-Tools CP-SAT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014F3-C645-46E9-AB21-184118AF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24175"/>
            <a:ext cx="2505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Feasible transfers under hard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B10F4-382E-49E5-A06E-0E5C125E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63341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77156-6B65-474F-8978-06208E4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B5E5C-07F1-4D1D-85C1-C7A8DCC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862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 / DashScope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41279-D480-40DB-855E-A4C2550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24325"/>
            <a:ext cx="2505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Briefs and explanations from validated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DE769-7D68-4A97-8462-403E3B8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52575"/>
            <a:ext cx="4314825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79886-E268-4A14-9D3A-1CBB9AE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5737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Qwen authority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D6B22-91BF-4F15-99E1-79E270E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86FE1-323C-48ED-8F0C-36A2AE0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47925"/>
            <a:ext cx="3305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Scoped, de-identified facts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BB56F-9F05-4AF9-BE07-746F6E6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241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BD464-C20E-4326-B5A4-836CC10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3305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Schema + numeric 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B5D49-677F-45CD-898E-47E1F33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BB269-24C0-4CA0-B2C4-C00E2BCD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43275"/>
            <a:ext cx="3305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Timeout, budget + circuit breaker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6F413-9E53-42F4-BF2D-8A39078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95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4DD81-B4ED-45DB-A198-BF0B1BD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90950"/>
            <a:ext cx="3305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 fallback without a 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611E8-9FA8-4368-AE52-EE1A576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B3AE8-B782-48E2-95EF-7A1248B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38625"/>
            <a:ext cx="3305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Never mutates clinical or custody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A700E-899D-4127-9888-DE209497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106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96779-6512-4263-8172-37AE44BE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Submission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532133-217D-415A-A104-21E06E9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14950"/>
            <a:ext cx="8982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API-ready Qwen gateway + verified deterministic fallback; no external key is configured today.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92DD5-3CF2-44C4-84DD-29EFFFA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5428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EDFEA-9868-4570-9314-952D71A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DESIGNED TO SCALE WITHOUT ERASING LOCAL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E117-FAD0-48A1-AE58-D5B317F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data contract supports four operating models and disconnected starting 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7774A-4649-40C7-8F12-117C30D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5D291-4239-47D8-9384-6DB616A5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47800"/>
            <a:ext cx="6315075" cy="3609975"/>
          </a:xfrm>
          <a:prstGeom xmlns:a="http://schemas.openxmlformats.org/drawingml/2006/main" prst="roundRect">
            <a:avLst>
              <a:gd name="adj" fmla="val 316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b445d30074709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514475"/>
            <a:ext cx="61817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C40FD-195B-4419-A565-EBF3536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10D7F-3524-4571-BE2B-D2CE63A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5335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Standalone hospital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1578-31BA-45A7-A7FD-4A7003BF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767EB-1C2C-4DC1-A12C-E7CBF66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AF0B6-97EF-4CD6-9F2B-F58EC57C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241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Hospital 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47C40-B0CC-44A1-B140-9892665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1590E-D8F9-468B-9C14-5C1D088C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65456-75B0-48E7-B829-E1F8957B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1467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RBC hub + 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516E1-A5D3-4F46-B73B-A4A6A74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BB2AB-3DB3-4CEF-8935-DFF9B98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96B88-381E-47FE-9151-ADD731D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05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Province oversight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4CDB0-7C65-4070-8909-CF7BF59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INGESTION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0BF8A-9A85-4934-8488-AA1E3036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 · FHIR R4 · HL7 v2 ·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E2C8C-67C7-491D-89A1-C206D6F7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0175"/>
            <a:ext cx="6181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→ quarantine → reconcile →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EF89B-E6B1-4942-BAA5-6C88EBB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5428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3F307-09C9-4C0B-963F-ED58797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BUILT, INTEGRATED AND DEMONSTRABLE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A5B68-F973-4B57-9C2B-41D597D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complete synthetic MVP—with evidence, not a concept slide.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9759C-C244-43D1-9738-7FCCC3A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A114-F8AD-4547-9D23-E29796BD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533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0C0FE-1729-4090-93D0-BC0BC31A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5E7B1-2658-4F38-B432-D628B67C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automated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CDCDE-80B9-45CB-82F1-E9D1E8B1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562100"/>
            <a:ext cx="2533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906FA-CF1B-443D-AF38-C1844E69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811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169/169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13285-0081-40D6-BB6A-3045D2A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57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live role + permission probes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2ED6F-3CE7-475C-B62E-D64400C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533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76C21-5EA5-4E66-A544-3DB6F6F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811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8484C-51C2-4EB7-8CA8-EA507A2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synthetic facilities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0E622-DB17-49EB-A95D-14EB9A6F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562100"/>
            <a:ext cx="2533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3D48E-F23C-414B-AC82-02DC5C9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811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36,899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FE213-969F-4737-A111-F65AA57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57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B65"/>
                </a:solidFill>
                <a:latin typeface="Helvetica Neue"/>
                <a:ea typeface="Helvetica Neue"/>
                <a:cs typeface="Helvetica Neue"/>
              </a:rPr>
              <a:t>synthetic blood units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BA240-2A25-4218-A354-4614BC22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72771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46A35-A433-4E0A-B0C5-7A988B2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664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judges can verify 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9242E-6268-4A55-B7AE-EAFB25D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08228-FA09-4E98-BBDE-6D3B986B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End-to-end role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FE7E8-DB5D-41EB-9681-553BE638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35CD8-DA45-4CF8-B9D3-8939258B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+ expiry + transfer decision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A61F1-F8D8-45D1-9C9E-D788187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DC544-DD98-416E-A360-3C4D9F2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English/Urdu and responsive guidance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D8F4D-7534-4A93-AD9F-BB30902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161A7-85FF-4ADE-BF68-9DE713B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 trail, health checks and deterministic rebuild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BFC3B-776A-4020-A533-BBF07A8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3419475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36F7F-149D-4792-8535-003F310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next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154C2-43EE-4223-93EA-0B13DA0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28289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Connect a Qwen key, run the final clean Docker launch, and submit the public release.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8C7A3-8381-4365-A680-0C6C4DB7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Rabta-e-Hayat turns foresight into accountable 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21D509-B3B9-4B72-B7DF-65925CC4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2360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2026-09-03T18:24:22.8370000Z</dcterms:created>
  <dcterms:modified xsi:type="dcterms:W3CDTF">2026-09-03T18:24:22.8370000Z</dcterms:modified>
</coreProperties>
</file>